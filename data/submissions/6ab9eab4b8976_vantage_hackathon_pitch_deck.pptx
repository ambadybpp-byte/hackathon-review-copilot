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Poor lighting</c:v>
                </c:pt>
                <c:pt idx="1">
                  <c:v>Stray animals</c:v>
                </c:pt>
                <c:pt idx="2">
                  <c:v>Isolation</c:v>
                </c:pt>
                <c:pt idx="3">
                  <c:v>Unsafe roads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FA-4B69-BB2E-74BCC5995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443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9EC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21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21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9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640080"/>
            <a:ext cx="4892040" cy="5577840"/>
          </a:xfrm>
          <a:prstGeom prst="roundRect">
            <a:avLst>
              <a:gd name="adj" fmla="val 2243"/>
            </a:avLst>
          </a:prstGeom>
          <a:solidFill>
            <a:srgbClr val="123024"/>
          </a:solidFill>
          <a:ln/>
        </p:spPr>
      </p:sp>
      <p:sp>
        <p:nvSpPr>
          <p:cNvPr id="3" name="Shape 1"/>
          <p:cNvSpPr/>
          <p:nvPr/>
        </p:nvSpPr>
        <p:spPr>
          <a:xfrm>
            <a:off x="7029907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" name="Shape 2"/>
          <p:cNvSpPr/>
          <p:nvPr/>
        </p:nvSpPr>
        <p:spPr>
          <a:xfrm>
            <a:off x="7356981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" name="Shape 3"/>
          <p:cNvSpPr/>
          <p:nvPr/>
        </p:nvSpPr>
        <p:spPr>
          <a:xfrm>
            <a:off x="7684055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" name="Shape 4"/>
          <p:cNvSpPr/>
          <p:nvPr/>
        </p:nvSpPr>
        <p:spPr>
          <a:xfrm>
            <a:off x="8011129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" name="Shape 5"/>
          <p:cNvSpPr/>
          <p:nvPr/>
        </p:nvSpPr>
        <p:spPr>
          <a:xfrm>
            <a:off x="8338203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" name="Shape 6"/>
          <p:cNvSpPr/>
          <p:nvPr/>
        </p:nvSpPr>
        <p:spPr>
          <a:xfrm>
            <a:off x="8665276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" name="Shape 7"/>
          <p:cNvSpPr/>
          <p:nvPr/>
        </p:nvSpPr>
        <p:spPr>
          <a:xfrm>
            <a:off x="8992350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" name="Shape 8"/>
          <p:cNvSpPr/>
          <p:nvPr/>
        </p:nvSpPr>
        <p:spPr>
          <a:xfrm>
            <a:off x="9319424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" name="Shape 9"/>
          <p:cNvSpPr/>
          <p:nvPr/>
        </p:nvSpPr>
        <p:spPr>
          <a:xfrm>
            <a:off x="9646498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" name="Shape 10"/>
          <p:cNvSpPr/>
          <p:nvPr/>
        </p:nvSpPr>
        <p:spPr>
          <a:xfrm>
            <a:off x="9973572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00646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27720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54793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81867" y="9491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029907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6981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4055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1129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1" name="Shape 19"/>
          <p:cNvSpPr/>
          <p:nvPr/>
        </p:nvSpPr>
        <p:spPr>
          <a:xfrm>
            <a:off x="8338203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5276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2350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319424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6498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6" name="Shape 24"/>
          <p:cNvSpPr/>
          <p:nvPr/>
        </p:nvSpPr>
        <p:spPr>
          <a:xfrm>
            <a:off x="9973572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00646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27720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54793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81867" y="1497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029907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6981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4055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4" name="Shape 32"/>
          <p:cNvSpPr/>
          <p:nvPr/>
        </p:nvSpPr>
        <p:spPr>
          <a:xfrm>
            <a:off x="8011129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5" name="Shape 33"/>
          <p:cNvSpPr/>
          <p:nvPr/>
        </p:nvSpPr>
        <p:spPr>
          <a:xfrm>
            <a:off x="8338203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6" name="Shape 34"/>
          <p:cNvSpPr/>
          <p:nvPr/>
        </p:nvSpPr>
        <p:spPr>
          <a:xfrm>
            <a:off x="8665276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7" name="Shape 35"/>
          <p:cNvSpPr/>
          <p:nvPr/>
        </p:nvSpPr>
        <p:spPr>
          <a:xfrm>
            <a:off x="8992350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8" name="Shape 36"/>
          <p:cNvSpPr/>
          <p:nvPr/>
        </p:nvSpPr>
        <p:spPr>
          <a:xfrm>
            <a:off x="9319424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9" name="Shape 37"/>
          <p:cNvSpPr/>
          <p:nvPr/>
        </p:nvSpPr>
        <p:spPr>
          <a:xfrm>
            <a:off x="9646498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0" name="Shape 38"/>
          <p:cNvSpPr/>
          <p:nvPr/>
        </p:nvSpPr>
        <p:spPr>
          <a:xfrm>
            <a:off x="9973572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00646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27720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54793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4" name="Shape 42"/>
          <p:cNvSpPr/>
          <p:nvPr/>
        </p:nvSpPr>
        <p:spPr>
          <a:xfrm>
            <a:off x="11281867" y="20464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029907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356981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4055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8" name="Shape 46"/>
          <p:cNvSpPr/>
          <p:nvPr/>
        </p:nvSpPr>
        <p:spPr>
          <a:xfrm>
            <a:off x="8011129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9" name="Shape 47"/>
          <p:cNvSpPr/>
          <p:nvPr/>
        </p:nvSpPr>
        <p:spPr>
          <a:xfrm>
            <a:off x="8338203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0" name="Shape 48"/>
          <p:cNvSpPr/>
          <p:nvPr/>
        </p:nvSpPr>
        <p:spPr>
          <a:xfrm>
            <a:off x="8665276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1" name="Shape 49"/>
          <p:cNvSpPr/>
          <p:nvPr/>
        </p:nvSpPr>
        <p:spPr>
          <a:xfrm>
            <a:off x="8992350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2" name="Shape 50"/>
          <p:cNvSpPr/>
          <p:nvPr/>
        </p:nvSpPr>
        <p:spPr>
          <a:xfrm>
            <a:off x="9319424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3" name="Shape 51"/>
          <p:cNvSpPr/>
          <p:nvPr/>
        </p:nvSpPr>
        <p:spPr>
          <a:xfrm>
            <a:off x="9646498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4" name="Shape 52"/>
          <p:cNvSpPr/>
          <p:nvPr/>
        </p:nvSpPr>
        <p:spPr>
          <a:xfrm>
            <a:off x="9973572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5" name="Shape 53"/>
          <p:cNvSpPr/>
          <p:nvPr/>
        </p:nvSpPr>
        <p:spPr>
          <a:xfrm>
            <a:off x="10300646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27720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54793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81867" y="25950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9" name="Shape 57"/>
          <p:cNvSpPr/>
          <p:nvPr/>
        </p:nvSpPr>
        <p:spPr>
          <a:xfrm>
            <a:off x="7029907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0" name="Shape 58"/>
          <p:cNvSpPr/>
          <p:nvPr/>
        </p:nvSpPr>
        <p:spPr>
          <a:xfrm>
            <a:off x="7356981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1" name="Shape 59"/>
          <p:cNvSpPr/>
          <p:nvPr/>
        </p:nvSpPr>
        <p:spPr>
          <a:xfrm>
            <a:off x="7684055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2" name="Shape 60"/>
          <p:cNvSpPr/>
          <p:nvPr/>
        </p:nvSpPr>
        <p:spPr>
          <a:xfrm>
            <a:off x="8011129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3" name="Shape 61"/>
          <p:cNvSpPr/>
          <p:nvPr/>
        </p:nvSpPr>
        <p:spPr>
          <a:xfrm>
            <a:off x="8338203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4" name="Shape 62"/>
          <p:cNvSpPr/>
          <p:nvPr/>
        </p:nvSpPr>
        <p:spPr>
          <a:xfrm>
            <a:off x="8665276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5" name="Shape 63"/>
          <p:cNvSpPr/>
          <p:nvPr/>
        </p:nvSpPr>
        <p:spPr>
          <a:xfrm>
            <a:off x="8992350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6" name="Shape 64"/>
          <p:cNvSpPr/>
          <p:nvPr/>
        </p:nvSpPr>
        <p:spPr>
          <a:xfrm>
            <a:off x="9319424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7" name="Shape 65"/>
          <p:cNvSpPr/>
          <p:nvPr/>
        </p:nvSpPr>
        <p:spPr>
          <a:xfrm>
            <a:off x="9646498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8" name="Shape 66"/>
          <p:cNvSpPr/>
          <p:nvPr/>
        </p:nvSpPr>
        <p:spPr>
          <a:xfrm>
            <a:off x="9973572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300646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0" name="Shape 68"/>
          <p:cNvSpPr/>
          <p:nvPr/>
        </p:nvSpPr>
        <p:spPr>
          <a:xfrm>
            <a:off x="10627720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54793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2" name="Shape 70"/>
          <p:cNvSpPr/>
          <p:nvPr/>
        </p:nvSpPr>
        <p:spPr>
          <a:xfrm>
            <a:off x="11281867" y="3143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3" name="Shape 71"/>
          <p:cNvSpPr/>
          <p:nvPr/>
        </p:nvSpPr>
        <p:spPr>
          <a:xfrm>
            <a:off x="7029907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4" name="Shape 72"/>
          <p:cNvSpPr/>
          <p:nvPr/>
        </p:nvSpPr>
        <p:spPr>
          <a:xfrm>
            <a:off x="7356981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5" name="Shape 73"/>
          <p:cNvSpPr/>
          <p:nvPr/>
        </p:nvSpPr>
        <p:spPr>
          <a:xfrm>
            <a:off x="7684055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6" name="Shape 74"/>
          <p:cNvSpPr/>
          <p:nvPr/>
        </p:nvSpPr>
        <p:spPr>
          <a:xfrm>
            <a:off x="8011129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7" name="Shape 75"/>
          <p:cNvSpPr/>
          <p:nvPr/>
        </p:nvSpPr>
        <p:spPr>
          <a:xfrm>
            <a:off x="8338203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8" name="Shape 76"/>
          <p:cNvSpPr/>
          <p:nvPr/>
        </p:nvSpPr>
        <p:spPr>
          <a:xfrm>
            <a:off x="8665276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9" name="Shape 77"/>
          <p:cNvSpPr/>
          <p:nvPr/>
        </p:nvSpPr>
        <p:spPr>
          <a:xfrm>
            <a:off x="8992350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0" name="Shape 78"/>
          <p:cNvSpPr/>
          <p:nvPr/>
        </p:nvSpPr>
        <p:spPr>
          <a:xfrm>
            <a:off x="9319424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1" name="Shape 79"/>
          <p:cNvSpPr/>
          <p:nvPr/>
        </p:nvSpPr>
        <p:spPr>
          <a:xfrm>
            <a:off x="9646498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2" name="Shape 80"/>
          <p:cNvSpPr/>
          <p:nvPr/>
        </p:nvSpPr>
        <p:spPr>
          <a:xfrm>
            <a:off x="9973572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3" name="Shape 81"/>
          <p:cNvSpPr/>
          <p:nvPr/>
        </p:nvSpPr>
        <p:spPr>
          <a:xfrm>
            <a:off x="10300646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4" name="Shape 82"/>
          <p:cNvSpPr/>
          <p:nvPr/>
        </p:nvSpPr>
        <p:spPr>
          <a:xfrm>
            <a:off x="10627720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5" name="Shape 83"/>
          <p:cNvSpPr/>
          <p:nvPr/>
        </p:nvSpPr>
        <p:spPr>
          <a:xfrm>
            <a:off x="10954793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6" name="Shape 84"/>
          <p:cNvSpPr/>
          <p:nvPr/>
        </p:nvSpPr>
        <p:spPr>
          <a:xfrm>
            <a:off x="11281867" y="36923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7" name="Shape 85"/>
          <p:cNvSpPr/>
          <p:nvPr/>
        </p:nvSpPr>
        <p:spPr>
          <a:xfrm>
            <a:off x="7029907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8" name="Shape 86"/>
          <p:cNvSpPr/>
          <p:nvPr/>
        </p:nvSpPr>
        <p:spPr>
          <a:xfrm>
            <a:off x="7356981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9" name="Shape 87"/>
          <p:cNvSpPr/>
          <p:nvPr/>
        </p:nvSpPr>
        <p:spPr>
          <a:xfrm>
            <a:off x="7684055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0" name="Shape 88"/>
          <p:cNvSpPr/>
          <p:nvPr/>
        </p:nvSpPr>
        <p:spPr>
          <a:xfrm>
            <a:off x="8011129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1" name="Shape 89"/>
          <p:cNvSpPr/>
          <p:nvPr/>
        </p:nvSpPr>
        <p:spPr>
          <a:xfrm>
            <a:off x="8338203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2" name="Shape 90"/>
          <p:cNvSpPr/>
          <p:nvPr/>
        </p:nvSpPr>
        <p:spPr>
          <a:xfrm>
            <a:off x="8665276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3" name="Shape 91"/>
          <p:cNvSpPr/>
          <p:nvPr/>
        </p:nvSpPr>
        <p:spPr>
          <a:xfrm>
            <a:off x="8992350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4" name="Shape 92"/>
          <p:cNvSpPr/>
          <p:nvPr/>
        </p:nvSpPr>
        <p:spPr>
          <a:xfrm>
            <a:off x="9319424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5" name="Shape 93"/>
          <p:cNvSpPr/>
          <p:nvPr/>
        </p:nvSpPr>
        <p:spPr>
          <a:xfrm>
            <a:off x="9646498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6" name="Shape 94"/>
          <p:cNvSpPr/>
          <p:nvPr/>
        </p:nvSpPr>
        <p:spPr>
          <a:xfrm>
            <a:off x="9973572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7" name="Shape 95"/>
          <p:cNvSpPr/>
          <p:nvPr/>
        </p:nvSpPr>
        <p:spPr>
          <a:xfrm>
            <a:off x="10300646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8" name="Shape 96"/>
          <p:cNvSpPr/>
          <p:nvPr/>
        </p:nvSpPr>
        <p:spPr>
          <a:xfrm>
            <a:off x="10627720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9" name="Shape 97"/>
          <p:cNvSpPr/>
          <p:nvPr/>
        </p:nvSpPr>
        <p:spPr>
          <a:xfrm>
            <a:off x="10954793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281867" y="42409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7029907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356981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684055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011129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338203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665276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992350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19424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646498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973572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300646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627720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954793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81867" y="4789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029907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356981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684055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011129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338203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665276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992350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9319424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9646498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9973572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300646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0627720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954793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1281867" y="53382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7029907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356981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684055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8011129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8338203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8665276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992350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319424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646498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73572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300646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627720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954793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1281867" y="58869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3" name="Shape 141"/>
          <p:cNvSpPr/>
          <p:nvPr/>
        </p:nvSpPr>
        <p:spPr>
          <a:xfrm flipV="1">
            <a:off x="7797089" y="1755648"/>
            <a:ext cx="1614373" cy="446227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411462" y="1755648"/>
            <a:ext cx="1467612" cy="669341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10243109" y="2424989"/>
            <a:ext cx="635965" cy="1282903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454646" y="3986784"/>
            <a:ext cx="978408" cy="446227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433054" y="4433011"/>
            <a:ext cx="1223010" cy="557784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50785" y="2055571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7737653" y="2142439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265158" y="1609344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9352026" y="1696212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0096805" y="3561588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10183673" y="3648456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286750" y="4286707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8373618" y="4373575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732770" y="2278685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10819638" y="2365553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308342" y="3840480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395210" y="3927348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509760" y="4844491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9596628" y="4931359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594360" y="19659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</a:t>
            </a:r>
            <a:endParaRPr lang="en-US" sz="6800" dirty="0"/>
          </a:p>
        </p:txBody>
      </p:sp>
      <p:sp>
        <p:nvSpPr>
          <p:cNvPr id="163" name="Shape 161"/>
          <p:cNvSpPr/>
          <p:nvPr/>
        </p:nvSpPr>
        <p:spPr>
          <a:xfrm>
            <a:off x="621792" y="3063240"/>
            <a:ext cx="50292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594360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SAFETY INTELLIGENCE</a:t>
            </a:r>
            <a:endParaRPr lang="en-US" sz="1500" dirty="0"/>
          </a:p>
        </p:txBody>
      </p:sp>
      <p:sp>
        <p:nvSpPr>
          <p:cNvPr id="165" name="Text 163"/>
          <p:cNvSpPr txBox="1"/>
          <p:nvPr/>
        </p:nvSpPr>
        <p:spPr>
          <a:xfrm>
            <a:off x="594360" y="379476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every safety problem people notice could become visible to the people who can act on it?”</a:t>
            </a:r>
            <a:endParaRPr lang="en-US" sz="2100" dirty="0"/>
          </a:p>
        </p:txBody>
      </p:sp>
      <p:sp>
        <p:nvSpPr>
          <p:cNvPr id="166" name="Text 164"/>
          <p:cNvSpPr txBox="1"/>
          <p:nvPr/>
        </p:nvSpPr>
        <p:spPr>
          <a:xfrm>
            <a:off x="5943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A5FA495-76C8-0A94-C78E-01DEBC720867}"/>
              </a:ext>
            </a:extLst>
          </p:cNvPr>
          <p:cNvSpPr txBox="1"/>
          <p:nvPr/>
        </p:nvSpPr>
        <p:spPr>
          <a:xfrm>
            <a:off x="579120" y="5244860"/>
            <a:ext cx="2225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Aafiya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Rahila.A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Lisah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Marcie.S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Hafna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Fathima.M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problems are visible.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information isn’t.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97480"/>
            <a:ext cx="685800" cy="68580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6" name="Image 0" descr="/home/claude/vantage/icons/person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8689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people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don’t know what problems have recently been reported in an area before travelling through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23317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697480"/>
            <a:ext cx="685800" cy="68580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1" name="Image 1" descr="/home/claude/vantage/icons/scattered_FF9F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28689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communities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may experience poor lighting, unsafe infrastructure, isolation or stray animals — but the information stays isolated.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697480"/>
            <a:ext cx="685800" cy="68580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6" name="Image 2" descr="/home/claude/vantage/icons/layers_22C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210" y="28689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authorities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local problems are hard to see as a single pattern when reports are scattered across conversations and channels.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does not claim existing systems fail — it closes the gap between an observation and the people who need to see it.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 people about 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B211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04872"/>
            <a:ext cx="457200" cy="457200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6" name="Image 0" descr="/home/claude/vantage/icons/ey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50774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dirty="0">
                <a:solidFill>
                  <a:schemeClr val="bg1"/>
                </a:solidFill>
              </a:rPr>
              <a:t>78</a:t>
            </a: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77240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felt unsafe in a particular area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21488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B2118"/>
          </a:solidFill>
          <a:ln/>
        </p:spPr>
      </p:sp>
      <p:sp>
        <p:nvSpPr>
          <p:cNvPr id="10" name="Shape 7"/>
          <p:cNvSpPr/>
          <p:nvPr/>
        </p:nvSpPr>
        <p:spPr>
          <a:xfrm>
            <a:off x="3584448" y="2404872"/>
            <a:ext cx="457200" cy="457200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1" name="Image 1" descr="/home/claude/vantage/icons/navigation_FF9F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318" y="250774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dirty="0">
                <a:solidFill>
                  <a:schemeClr val="bg1"/>
                </a:solidFill>
              </a:rPr>
              <a:t>61%</a:t>
            </a:r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584448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changed their route because of safety concerns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21488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B2118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1656" y="2404872"/>
            <a:ext cx="457200" cy="457200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6" name="Image 2" descr="/home/claude/vantage/icons/map_22C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526" y="250774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038" y="2907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dirty="0">
                <a:solidFill>
                  <a:schemeClr val="bg1"/>
                </a:solidFill>
              </a:rPr>
              <a:t>84%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391656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to know about an area’s safety before travelling there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0264" y="21488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B2118"/>
          </a:solidFill>
          <a:ln/>
        </p:spPr>
      </p:sp>
      <p:sp>
        <p:nvSpPr>
          <p:cNvPr id="20" name="Shape 15"/>
          <p:cNvSpPr/>
          <p:nvPr/>
        </p:nvSpPr>
        <p:spPr>
          <a:xfrm>
            <a:off x="9198864" y="2404872"/>
            <a:ext cx="457200" cy="457200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21" name="Image 3" descr="/home/claude/vantage/icons/report_FF9F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734" y="250774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dirty="0">
                <a:solidFill>
                  <a:schemeClr val="bg1"/>
                </a:solidFill>
              </a:rPr>
              <a:t>72%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198864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report a problem through a platform like VANTAGE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48006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survey is helping us understand what people experience, what information they want, and what would make community reports trustworthy.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figures — to be replaced with verified results from our Google Forms survey.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EVIDENCE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community-powered map of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safety problems.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2249424"/>
            <a:ext cx="3136392" cy="4325112"/>
          </a:xfrm>
          <a:prstGeom prst="roundRect">
            <a:avLst>
              <a:gd name="adj" fmla="val 10204"/>
            </a:avLst>
          </a:prstGeom>
          <a:solidFill>
            <a:srgbClr val="16281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2971800" cy="4160520"/>
          </a:xfrm>
          <a:prstGeom prst="roundRect">
            <a:avLst>
              <a:gd name="adj" fmla="val 8615"/>
            </a:avLst>
          </a:prstGeom>
          <a:solidFill>
            <a:srgbClr val="123024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2651760"/>
            <a:ext cx="2715768" cy="3474720"/>
          </a:xfrm>
          <a:prstGeom prst="roundRect">
            <a:avLst>
              <a:gd name="adj" fmla="val 4040"/>
            </a:avLst>
          </a:prstGeom>
          <a:solidFill>
            <a:srgbClr val="123024"/>
          </a:solidFill>
          <a:ln/>
        </p:spPr>
      </p:sp>
      <p:sp>
        <p:nvSpPr>
          <p:cNvPr id="7" name="Shape 5"/>
          <p:cNvSpPr/>
          <p:nvPr/>
        </p:nvSpPr>
        <p:spPr>
          <a:xfrm>
            <a:off x="1214323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" name="Shape 6"/>
          <p:cNvSpPr/>
          <p:nvPr/>
        </p:nvSpPr>
        <p:spPr>
          <a:xfrm>
            <a:off x="1373992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" name="Shape 7"/>
          <p:cNvSpPr/>
          <p:nvPr/>
        </p:nvSpPr>
        <p:spPr>
          <a:xfrm>
            <a:off x="1533660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" name="Shape 8"/>
          <p:cNvSpPr/>
          <p:nvPr/>
        </p:nvSpPr>
        <p:spPr>
          <a:xfrm>
            <a:off x="1693328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" name="Shape 9"/>
          <p:cNvSpPr/>
          <p:nvPr/>
        </p:nvSpPr>
        <p:spPr>
          <a:xfrm>
            <a:off x="1852996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2665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" name="Shape 11"/>
          <p:cNvSpPr/>
          <p:nvPr/>
        </p:nvSpPr>
        <p:spPr>
          <a:xfrm>
            <a:off x="2172333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2001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91670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338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7" name="Shape 15"/>
          <p:cNvSpPr/>
          <p:nvPr/>
        </p:nvSpPr>
        <p:spPr>
          <a:xfrm>
            <a:off x="2811006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70675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9" name="Shape 17"/>
          <p:cNvSpPr/>
          <p:nvPr/>
        </p:nvSpPr>
        <p:spPr>
          <a:xfrm>
            <a:off x="3130343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0011" y="29608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4323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3992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3" name="Shape 21"/>
          <p:cNvSpPr/>
          <p:nvPr/>
        </p:nvSpPr>
        <p:spPr>
          <a:xfrm>
            <a:off x="1533660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3328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852996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6" name="Shape 24"/>
          <p:cNvSpPr/>
          <p:nvPr/>
        </p:nvSpPr>
        <p:spPr>
          <a:xfrm>
            <a:off x="2012665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72333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2001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91670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51338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1" name="Shape 29"/>
          <p:cNvSpPr/>
          <p:nvPr/>
        </p:nvSpPr>
        <p:spPr>
          <a:xfrm>
            <a:off x="2811006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70675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130343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0011" y="32757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5" name="Shape 33"/>
          <p:cNvSpPr/>
          <p:nvPr/>
        </p:nvSpPr>
        <p:spPr>
          <a:xfrm>
            <a:off x="1214323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6" name="Shape 34"/>
          <p:cNvSpPr/>
          <p:nvPr/>
        </p:nvSpPr>
        <p:spPr>
          <a:xfrm>
            <a:off x="1373992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7" name="Shape 35"/>
          <p:cNvSpPr/>
          <p:nvPr/>
        </p:nvSpPr>
        <p:spPr>
          <a:xfrm>
            <a:off x="1533660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3328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9" name="Shape 37"/>
          <p:cNvSpPr/>
          <p:nvPr/>
        </p:nvSpPr>
        <p:spPr>
          <a:xfrm>
            <a:off x="1852996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0" name="Shape 38"/>
          <p:cNvSpPr/>
          <p:nvPr/>
        </p:nvSpPr>
        <p:spPr>
          <a:xfrm>
            <a:off x="2012665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1" name="Shape 39"/>
          <p:cNvSpPr/>
          <p:nvPr/>
        </p:nvSpPr>
        <p:spPr>
          <a:xfrm>
            <a:off x="2172333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2001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3" name="Shape 41"/>
          <p:cNvSpPr/>
          <p:nvPr/>
        </p:nvSpPr>
        <p:spPr>
          <a:xfrm>
            <a:off x="2491670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4" name="Shape 42"/>
          <p:cNvSpPr/>
          <p:nvPr/>
        </p:nvSpPr>
        <p:spPr>
          <a:xfrm>
            <a:off x="2651338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5" name="Shape 43"/>
          <p:cNvSpPr/>
          <p:nvPr/>
        </p:nvSpPr>
        <p:spPr>
          <a:xfrm>
            <a:off x="2811006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6" name="Shape 44"/>
          <p:cNvSpPr/>
          <p:nvPr/>
        </p:nvSpPr>
        <p:spPr>
          <a:xfrm>
            <a:off x="2970675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7" name="Shape 45"/>
          <p:cNvSpPr/>
          <p:nvPr/>
        </p:nvSpPr>
        <p:spPr>
          <a:xfrm>
            <a:off x="3130343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8" name="Shape 46"/>
          <p:cNvSpPr/>
          <p:nvPr/>
        </p:nvSpPr>
        <p:spPr>
          <a:xfrm>
            <a:off x="3290011" y="35907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9" name="Shape 47"/>
          <p:cNvSpPr/>
          <p:nvPr/>
        </p:nvSpPr>
        <p:spPr>
          <a:xfrm>
            <a:off x="1214323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0" name="Shape 48"/>
          <p:cNvSpPr/>
          <p:nvPr/>
        </p:nvSpPr>
        <p:spPr>
          <a:xfrm>
            <a:off x="1373992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1" name="Shape 49"/>
          <p:cNvSpPr/>
          <p:nvPr/>
        </p:nvSpPr>
        <p:spPr>
          <a:xfrm>
            <a:off x="1533660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2" name="Shape 50"/>
          <p:cNvSpPr/>
          <p:nvPr/>
        </p:nvSpPr>
        <p:spPr>
          <a:xfrm>
            <a:off x="1693328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3" name="Shape 51"/>
          <p:cNvSpPr/>
          <p:nvPr/>
        </p:nvSpPr>
        <p:spPr>
          <a:xfrm>
            <a:off x="1852996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4" name="Shape 52"/>
          <p:cNvSpPr/>
          <p:nvPr/>
        </p:nvSpPr>
        <p:spPr>
          <a:xfrm>
            <a:off x="2012665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5" name="Shape 53"/>
          <p:cNvSpPr/>
          <p:nvPr/>
        </p:nvSpPr>
        <p:spPr>
          <a:xfrm>
            <a:off x="2172333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6" name="Shape 54"/>
          <p:cNvSpPr/>
          <p:nvPr/>
        </p:nvSpPr>
        <p:spPr>
          <a:xfrm>
            <a:off x="2332001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7" name="Shape 55"/>
          <p:cNvSpPr/>
          <p:nvPr/>
        </p:nvSpPr>
        <p:spPr>
          <a:xfrm>
            <a:off x="2491670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8" name="Shape 56"/>
          <p:cNvSpPr/>
          <p:nvPr/>
        </p:nvSpPr>
        <p:spPr>
          <a:xfrm>
            <a:off x="2651338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9" name="Shape 57"/>
          <p:cNvSpPr/>
          <p:nvPr/>
        </p:nvSpPr>
        <p:spPr>
          <a:xfrm>
            <a:off x="2811006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0" name="Shape 58"/>
          <p:cNvSpPr/>
          <p:nvPr/>
        </p:nvSpPr>
        <p:spPr>
          <a:xfrm>
            <a:off x="2970675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1" name="Shape 59"/>
          <p:cNvSpPr/>
          <p:nvPr/>
        </p:nvSpPr>
        <p:spPr>
          <a:xfrm>
            <a:off x="3130343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2" name="Shape 60"/>
          <p:cNvSpPr/>
          <p:nvPr/>
        </p:nvSpPr>
        <p:spPr>
          <a:xfrm>
            <a:off x="3290011" y="39057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3" name="Shape 61"/>
          <p:cNvSpPr/>
          <p:nvPr/>
        </p:nvSpPr>
        <p:spPr>
          <a:xfrm>
            <a:off x="1214323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4" name="Shape 62"/>
          <p:cNvSpPr/>
          <p:nvPr/>
        </p:nvSpPr>
        <p:spPr>
          <a:xfrm>
            <a:off x="1373992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5" name="Shape 63"/>
          <p:cNvSpPr/>
          <p:nvPr/>
        </p:nvSpPr>
        <p:spPr>
          <a:xfrm>
            <a:off x="1533660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6" name="Shape 64"/>
          <p:cNvSpPr/>
          <p:nvPr/>
        </p:nvSpPr>
        <p:spPr>
          <a:xfrm>
            <a:off x="1693328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7" name="Shape 65"/>
          <p:cNvSpPr/>
          <p:nvPr/>
        </p:nvSpPr>
        <p:spPr>
          <a:xfrm>
            <a:off x="1852996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8" name="Shape 66"/>
          <p:cNvSpPr/>
          <p:nvPr/>
        </p:nvSpPr>
        <p:spPr>
          <a:xfrm>
            <a:off x="2012665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9" name="Shape 67"/>
          <p:cNvSpPr/>
          <p:nvPr/>
        </p:nvSpPr>
        <p:spPr>
          <a:xfrm>
            <a:off x="2172333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2001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1" name="Shape 69"/>
          <p:cNvSpPr/>
          <p:nvPr/>
        </p:nvSpPr>
        <p:spPr>
          <a:xfrm>
            <a:off x="2491670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2" name="Shape 70"/>
          <p:cNvSpPr/>
          <p:nvPr/>
        </p:nvSpPr>
        <p:spPr>
          <a:xfrm>
            <a:off x="2651338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3" name="Shape 71"/>
          <p:cNvSpPr/>
          <p:nvPr/>
        </p:nvSpPr>
        <p:spPr>
          <a:xfrm>
            <a:off x="2811006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4" name="Shape 72"/>
          <p:cNvSpPr/>
          <p:nvPr/>
        </p:nvSpPr>
        <p:spPr>
          <a:xfrm>
            <a:off x="2970675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5" name="Shape 73"/>
          <p:cNvSpPr/>
          <p:nvPr/>
        </p:nvSpPr>
        <p:spPr>
          <a:xfrm>
            <a:off x="3130343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6" name="Shape 74"/>
          <p:cNvSpPr/>
          <p:nvPr/>
        </p:nvSpPr>
        <p:spPr>
          <a:xfrm>
            <a:off x="3290011" y="42206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7" name="Shape 75"/>
          <p:cNvSpPr/>
          <p:nvPr/>
        </p:nvSpPr>
        <p:spPr>
          <a:xfrm>
            <a:off x="1214323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8" name="Shape 76"/>
          <p:cNvSpPr/>
          <p:nvPr/>
        </p:nvSpPr>
        <p:spPr>
          <a:xfrm>
            <a:off x="1373992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9" name="Shape 77"/>
          <p:cNvSpPr/>
          <p:nvPr/>
        </p:nvSpPr>
        <p:spPr>
          <a:xfrm>
            <a:off x="1533660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0" name="Shape 78"/>
          <p:cNvSpPr/>
          <p:nvPr/>
        </p:nvSpPr>
        <p:spPr>
          <a:xfrm>
            <a:off x="1693328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1" name="Shape 79"/>
          <p:cNvSpPr/>
          <p:nvPr/>
        </p:nvSpPr>
        <p:spPr>
          <a:xfrm>
            <a:off x="1852996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2" name="Shape 80"/>
          <p:cNvSpPr/>
          <p:nvPr/>
        </p:nvSpPr>
        <p:spPr>
          <a:xfrm>
            <a:off x="2012665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3" name="Shape 81"/>
          <p:cNvSpPr/>
          <p:nvPr/>
        </p:nvSpPr>
        <p:spPr>
          <a:xfrm>
            <a:off x="2172333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4" name="Shape 82"/>
          <p:cNvSpPr/>
          <p:nvPr/>
        </p:nvSpPr>
        <p:spPr>
          <a:xfrm>
            <a:off x="2332001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5" name="Shape 83"/>
          <p:cNvSpPr/>
          <p:nvPr/>
        </p:nvSpPr>
        <p:spPr>
          <a:xfrm>
            <a:off x="2491670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6" name="Shape 84"/>
          <p:cNvSpPr/>
          <p:nvPr/>
        </p:nvSpPr>
        <p:spPr>
          <a:xfrm>
            <a:off x="2651338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7" name="Shape 85"/>
          <p:cNvSpPr/>
          <p:nvPr/>
        </p:nvSpPr>
        <p:spPr>
          <a:xfrm>
            <a:off x="2811006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8" name="Shape 86"/>
          <p:cNvSpPr/>
          <p:nvPr/>
        </p:nvSpPr>
        <p:spPr>
          <a:xfrm>
            <a:off x="2970675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9" name="Shape 87"/>
          <p:cNvSpPr/>
          <p:nvPr/>
        </p:nvSpPr>
        <p:spPr>
          <a:xfrm>
            <a:off x="3130343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0" name="Shape 88"/>
          <p:cNvSpPr/>
          <p:nvPr/>
        </p:nvSpPr>
        <p:spPr>
          <a:xfrm>
            <a:off x="3290011" y="453562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1" name="Shape 89"/>
          <p:cNvSpPr/>
          <p:nvPr/>
        </p:nvSpPr>
        <p:spPr>
          <a:xfrm>
            <a:off x="1214323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2" name="Shape 90"/>
          <p:cNvSpPr/>
          <p:nvPr/>
        </p:nvSpPr>
        <p:spPr>
          <a:xfrm>
            <a:off x="1373992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3" name="Shape 91"/>
          <p:cNvSpPr/>
          <p:nvPr/>
        </p:nvSpPr>
        <p:spPr>
          <a:xfrm>
            <a:off x="1533660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4" name="Shape 92"/>
          <p:cNvSpPr/>
          <p:nvPr/>
        </p:nvSpPr>
        <p:spPr>
          <a:xfrm>
            <a:off x="1693328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5" name="Shape 93"/>
          <p:cNvSpPr/>
          <p:nvPr/>
        </p:nvSpPr>
        <p:spPr>
          <a:xfrm>
            <a:off x="1852996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6" name="Shape 94"/>
          <p:cNvSpPr/>
          <p:nvPr/>
        </p:nvSpPr>
        <p:spPr>
          <a:xfrm>
            <a:off x="2012665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7" name="Shape 95"/>
          <p:cNvSpPr/>
          <p:nvPr/>
        </p:nvSpPr>
        <p:spPr>
          <a:xfrm>
            <a:off x="2172333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8" name="Shape 96"/>
          <p:cNvSpPr/>
          <p:nvPr/>
        </p:nvSpPr>
        <p:spPr>
          <a:xfrm>
            <a:off x="2332001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9" name="Shape 97"/>
          <p:cNvSpPr/>
          <p:nvPr/>
        </p:nvSpPr>
        <p:spPr>
          <a:xfrm>
            <a:off x="2491670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2651338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2811006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970675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130343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290011" y="48505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214323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373992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533660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693328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852996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012665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172333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332001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491670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651338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811006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970675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130343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290011" y="516554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214323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373992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533660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693328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852996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2012665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2172333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332001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491670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651338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811006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970675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3130343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290011" y="548050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214323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373992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533660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693328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852996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012665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172333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332001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491670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651338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811006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970675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3130343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290011" y="5795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7" name="Shape 145"/>
          <p:cNvSpPr/>
          <p:nvPr/>
        </p:nvSpPr>
        <p:spPr>
          <a:xfrm flipV="1">
            <a:off x="1502725" y="3346704"/>
            <a:ext cx="896203" cy="277978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398928" y="3346704"/>
            <a:ext cx="814730" cy="416966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2860609" y="3763670"/>
            <a:ext cx="353050" cy="799186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312621" y="4736592"/>
            <a:ext cx="543154" cy="277978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855775" y="5014570"/>
            <a:ext cx="678942" cy="347472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356421" y="3478378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1443289" y="3565246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2252624" y="3200400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2339492" y="3287268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2714305" y="4416552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2801173" y="4503420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709471" y="4868266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1796339" y="4955134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3067355" y="3617366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3154223" y="3704234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166317" y="4590288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253185" y="4677156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2388413" y="5215738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2475281" y="5302606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760220" y="2423160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081810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777240" y="6108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4160520" y="2377440"/>
            <a:ext cx="146304" cy="146304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44348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4160520" y="2743200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44348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animals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4160520" y="310896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44348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infrastructure</a:t>
            </a:r>
            <a:endParaRPr lang="en-US" sz="1200" dirty="0"/>
          </a:p>
        </p:txBody>
      </p:sp>
      <p:sp>
        <p:nvSpPr>
          <p:cNvPr id="174" name="Shape 172"/>
          <p:cNvSpPr/>
          <p:nvPr/>
        </p:nvSpPr>
        <p:spPr>
          <a:xfrm>
            <a:off x="4160520" y="3474720"/>
            <a:ext cx="146304" cy="146304"/>
          </a:xfrm>
          <a:prstGeom prst="ellipse">
            <a:avLst/>
          </a:prstGeom>
          <a:solidFill>
            <a:srgbClr val="9FB3A6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44348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4160520" y="3886200"/>
            <a:ext cx="384048" cy="384048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77" name="Image 0" descr="/home/claude/vantage/icons/report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931" y="3972611"/>
            <a:ext cx="211226" cy="211226"/>
          </a:xfrm>
          <a:prstGeom prst="rect">
            <a:avLst/>
          </a:prstGeom>
        </p:spPr>
      </p:pic>
      <p:sp>
        <p:nvSpPr>
          <p:cNvPr id="178" name="Text 175"/>
          <p:cNvSpPr txBox="1"/>
          <p:nvPr/>
        </p:nvSpPr>
        <p:spPr>
          <a:xfrm>
            <a:off x="4690872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</a:t>
            </a:r>
            <a:endParaRPr lang="en-US" sz="1300" dirty="0"/>
          </a:p>
        </p:txBody>
      </p:sp>
      <p:sp>
        <p:nvSpPr>
          <p:cNvPr id="179" name="Text 176"/>
          <p:cNvSpPr txBox="1"/>
          <p:nvPr/>
        </p:nvSpPr>
        <p:spPr>
          <a:xfrm>
            <a:off x="4690872" y="4087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reports an issue.</a:t>
            </a:r>
            <a:endParaRPr lang="en-US" sz="1050" dirty="0"/>
          </a:p>
        </p:txBody>
      </p:sp>
      <p:sp>
        <p:nvSpPr>
          <p:cNvPr id="180" name="Shape 177"/>
          <p:cNvSpPr/>
          <p:nvPr/>
        </p:nvSpPr>
        <p:spPr>
          <a:xfrm>
            <a:off x="4352544" y="4288536"/>
            <a:ext cx="0" cy="54864"/>
          </a:xfrm>
          <a:prstGeom prst="line">
            <a:avLst/>
          </a:prstGeom>
          <a:noFill/>
          <a:ln w="15875">
            <a:solidFill>
              <a:srgbClr val="1F4433"/>
            </a:solidFill>
            <a:prstDash val="dash"/>
          </a:ln>
        </p:spPr>
      </p:sp>
      <p:sp>
        <p:nvSpPr>
          <p:cNvPr id="181" name="Shape 178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82" name="Image 1" descr="/home/claude/vantage/icons/verify_22C5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931" y="4429811"/>
            <a:ext cx="211226" cy="211226"/>
          </a:xfrm>
          <a:prstGeom prst="rect">
            <a:avLst/>
          </a:prstGeom>
        </p:spPr>
      </p:pic>
      <p:sp>
        <p:nvSpPr>
          <p:cNvPr id="183" name="Text 179"/>
          <p:cNvSpPr txBox="1"/>
          <p:nvPr/>
        </p:nvSpPr>
        <p:spPr>
          <a:xfrm>
            <a:off x="4690872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300" dirty="0"/>
          </a:p>
        </p:txBody>
      </p:sp>
      <p:sp>
        <p:nvSpPr>
          <p:cNvPr id="184" name="Text 180"/>
          <p:cNvSpPr txBox="1"/>
          <p:nvPr/>
        </p:nvSpPr>
        <p:spPr>
          <a:xfrm>
            <a:off x="4690872" y="4544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people can confirm or flag it.</a:t>
            </a:r>
            <a:endParaRPr lang="en-US" sz="1050" dirty="0"/>
          </a:p>
        </p:txBody>
      </p:sp>
      <p:sp>
        <p:nvSpPr>
          <p:cNvPr id="185" name="Shape 181"/>
          <p:cNvSpPr/>
          <p:nvPr/>
        </p:nvSpPr>
        <p:spPr>
          <a:xfrm>
            <a:off x="4352544" y="4745736"/>
            <a:ext cx="0" cy="54864"/>
          </a:xfrm>
          <a:prstGeom prst="line">
            <a:avLst/>
          </a:prstGeom>
          <a:noFill/>
          <a:ln w="15875">
            <a:solidFill>
              <a:srgbClr val="1F4433"/>
            </a:solidFill>
            <a:prstDash val="dash"/>
          </a:ln>
        </p:spPr>
      </p:sp>
      <p:sp>
        <p:nvSpPr>
          <p:cNvPr id="186" name="Shape 182"/>
          <p:cNvSpPr/>
          <p:nvPr/>
        </p:nvSpPr>
        <p:spPr>
          <a:xfrm>
            <a:off x="4160520" y="4800600"/>
            <a:ext cx="384048" cy="384048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87" name="Image 2" descr="/home/claude/vantage/icons/map_22C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931" y="4887011"/>
            <a:ext cx="211226" cy="211226"/>
          </a:xfrm>
          <a:prstGeom prst="rect">
            <a:avLst/>
          </a:prstGeom>
        </p:spPr>
      </p:pic>
      <p:sp>
        <p:nvSpPr>
          <p:cNvPr id="188" name="Text 183"/>
          <p:cNvSpPr txBox="1"/>
          <p:nvPr/>
        </p:nvSpPr>
        <p:spPr>
          <a:xfrm>
            <a:off x="4690872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</a:t>
            </a:r>
            <a:endParaRPr lang="en-US" sz="1300" dirty="0"/>
          </a:p>
        </p:txBody>
      </p:sp>
      <p:sp>
        <p:nvSpPr>
          <p:cNvPr id="189" name="Text 184"/>
          <p:cNvSpPr txBox="1"/>
          <p:nvPr/>
        </p:nvSpPr>
        <p:spPr>
          <a:xfrm>
            <a:off x="4690872" y="5001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becomes visible at its location.</a:t>
            </a:r>
            <a:endParaRPr lang="en-US" sz="1050" dirty="0"/>
          </a:p>
        </p:txBody>
      </p:sp>
      <p:sp>
        <p:nvSpPr>
          <p:cNvPr id="190" name="Shape 185"/>
          <p:cNvSpPr/>
          <p:nvPr/>
        </p:nvSpPr>
        <p:spPr>
          <a:xfrm>
            <a:off x="4352544" y="5202936"/>
            <a:ext cx="0" cy="54864"/>
          </a:xfrm>
          <a:prstGeom prst="line">
            <a:avLst/>
          </a:prstGeom>
          <a:noFill/>
          <a:ln w="15875">
            <a:solidFill>
              <a:srgbClr val="1F4433"/>
            </a:solidFill>
            <a:prstDash val="dash"/>
          </a:ln>
        </p:spPr>
      </p:sp>
      <p:sp>
        <p:nvSpPr>
          <p:cNvPr id="191" name="Shape 186"/>
          <p:cNvSpPr/>
          <p:nvPr/>
        </p:nvSpPr>
        <p:spPr>
          <a:xfrm>
            <a:off x="4160520" y="5257800"/>
            <a:ext cx="384048" cy="384048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92" name="Image 3" descr="/home/claude/vantage/icons/identify_22C5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931" y="5344211"/>
            <a:ext cx="211226" cy="211226"/>
          </a:xfrm>
          <a:prstGeom prst="rect">
            <a:avLst/>
          </a:prstGeom>
        </p:spPr>
      </p:pic>
      <p:sp>
        <p:nvSpPr>
          <p:cNvPr id="193" name="Text 187"/>
          <p:cNvSpPr txBox="1"/>
          <p:nvPr/>
        </p:nvSpPr>
        <p:spPr>
          <a:xfrm>
            <a:off x="4690872" y="5230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PATTERNS</a:t>
            </a:r>
            <a:endParaRPr lang="en-US" sz="1300" dirty="0"/>
          </a:p>
        </p:txBody>
      </p:sp>
      <p:sp>
        <p:nvSpPr>
          <p:cNvPr id="194" name="Text 188"/>
          <p:cNvSpPr txBox="1"/>
          <p:nvPr/>
        </p:nvSpPr>
        <p:spPr>
          <a:xfrm>
            <a:off x="4690872" y="5458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reports reveal recurring problems.</a:t>
            </a:r>
            <a:endParaRPr lang="en-US" sz="1050" dirty="0"/>
          </a:p>
        </p:txBody>
      </p:sp>
      <p:sp>
        <p:nvSpPr>
          <p:cNvPr id="195" name="Shape 189"/>
          <p:cNvSpPr/>
          <p:nvPr/>
        </p:nvSpPr>
        <p:spPr>
          <a:xfrm>
            <a:off x="4352544" y="5660136"/>
            <a:ext cx="0" cy="54864"/>
          </a:xfrm>
          <a:prstGeom prst="line">
            <a:avLst/>
          </a:prstGeom>
          <a:noFill/>
          <a:ln w="15875">
            <a:solidFill>
              <a:srgbClr val="1F4433"/>
            </a:solidFill>
            <a:prstDash val="dash"/>
          </a:ln>
        </p:spPr>
      </p:sp>
      <p:sp>
        <p:nvSpPr>
          <p:cNvPr id="196" name="Shape 190"/>
          <p:cNvSpPr/>
          <p:nvPr/>
        </p:nvSpPr>
        <p:spPr>
          <a:xfrm>
            <a:off x="4160520" y="5715000"/>
            <a:ext cx="384048" cy="384048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197" name="Image 4" descr="/home/claude/vantage/icons/act_22C5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6931" y="5801411"/>
            <a:ext cx="211226" cy="211226"/>
          </a:xfrm>
          <a:prstGeom prst="rect">
            <a:avLst/>
          </a:prstGeom>
        </p:spPr>
      </p:pic>
      <p:sp>
        <p:nvSpPr>
          <p:cNvPr id="198" name="Text 191"/>
          <p:cNvSpPr txBox="1"/>
          <p:nvPr/>
        </p:nvSpPr>
        <p:spPr>
          <a:xfrm>
            <a:off x="4690872" y="5687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</a:t>
            </a:r>
            <a:endParaRPr lang="en-US" sz="1300" dirty="0"/>
          </a:p>
        </p:txBody>
      </p:sp>
      <p:sp>
        <p:nvSpPr>
          <p:cNvPr id="199" name="Text 192"/>
          <p:cNvSpPr txBox="1"/>
          <p:nvPr/>
        </p:nvSpPr>
        <p:spPr>
          <a:xfrm>
            <a:off x="4690872" y="5916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authorities receive structured information for review.</a:t>
            </a:r>
            <a:endParaRPr lang="en-US" sz="1050" dirty="0"/>
          </a:p>
        </p:txBody>
      </p:sp>
      <p:sp>
        <p:nvSpPr>
          <p:cNvPr id="200" name="Text 19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201" name="Text 194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observation to community intelligence.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3509" cy="22860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6774" y="2331720"/>
            <a:ext cx="777240" cy="7772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6" name="Image 0" descr="/home/claude/vantage/icons/report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84" y="25260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9229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246120"/>
            <a:ext cx="1684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notices a problem</a:t>
            </a:r>
            <a:endParaRPr lang="en-US" sz="1150" dirty="0"/>
          </a:p>
        </p:txBody>
      </p:sp>
      <p:pic>
        <p:nvPicPr>
          <p:cNvPr id="9" name="Image 1" descr="/home/claude/vantage/icons/chevron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437" y="301752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18181" y="2011680"/>
            <a:ext cx="2013509" cy="22860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36315" y="2331720"/>
            <a:ext cx="777240" cy="7772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2" name="Image 2" descr="/home/claude/vantage/icons/smartphone_FF9F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625" y="252603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2877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982773" y="3246120"/>
            <a:ext cx="1684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submit a location-based report</a:t>
            </a:r>
            <a:endParaRPr lang="en-US" sz="1150" dirty="0"/>
          </a:p>
        </p:txBody>
      </p:sp>
      <p:pic>
        <p:nvPicPr>
          <p:cNvPr id="15" name="Image 3" descr="/home/claude/vantage/icons/chevron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301752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87722" y="2011680"/>
            <a:ext cx="2013509" cy="22860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705856" y="2331720"/>
            <a:ext cx="777240" cy="7772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8" name="Image 4" descr="/home/claude/vantage/icons/users_22C5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166" y="2526030"/>
            <a:ext cx="388620" cy="3886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59831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252314" y="3246120"/>
            <a:ext cx="1684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users confirm or flag the report</a:t>
            </a:r>
            <a:endParaRPr lang="en-US" sz="1150" dirty="0"/>
          </a:p>
        </p:txBody>
      </p:sp>
      <p:pic>
        <p:nvPicPr>
          <p:cNvPr id="21" name="Image 5" descr="/home/claude/vantage/icons/chevron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518" y="3017520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57262" y="2011680"/>
            <a:ext cx="2013509" cy="22860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75397" y="2331720"/>
            <a:ext cx="777240" cy="7772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24" name="Image 6" descr="/home/claude/vantage/icons/map_FF9F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707" y="2526030"/>
            <a:ext cx="388620" cy="3886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867851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7521854" y="3246120"/>
            <a:ext cx="1684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maps verified signals</a:t>
            </a:r>
            <a:endParaRPr lang="en-US" sz="1150" dirty="0"/>
          </a:p>
        </p:txBody>
      </p:sp>
      <p:pic>
        <p:nvPicPr>
          <p:cNvPr id="27" name="Image 7" descr="/home/claude/vantage/icons/chevron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59" y="3017520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26803" y="2011680"/>
            <a:ext cx="2013509" cy="22860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244938" y="2331720"/>
            <a:ext cx="777240" cy="7772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30" name="Image 8" descr="/home/claude/vantage/icons/barchart_22C55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248" y="2526030"/>
            <a:ext cx="388620" cy="38862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113739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9791395" y="3246120"/>
            <a:ext cx="1684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 become actionable insights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0B2118"/>
          </a:solidFill>
          <a:ln/>
        </p:spPr>
      </p:sp>
      <p:sp>
        <p:nvSpPr>
          <p:cNvPr id="34" name="Text 23"/>
          <p:cNvSpPr txBox="1"/>
          <p:nvPr/>
        </p:nvSpPr>
        <p:spPr>
          <a:xfrm>
            <a:off x="868680" y="4690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“Street lights not working near Central Bus Stop”</a:t>
            </a:r>
            <a:endParaRPr lang="en-US" sz="1500" dirty="0"/>
          </a:p>
        </p:txBody>
      </p:sp>
      <p:sp>
        <p:nvSpPr>
          <p:cNvPr id="35" name="Text 24"/>
          <p:cNvSpPr txBox="1"/>
          <p:nvPr/>
        </p:nvSpPr>
        <p:spPr>
          <a:xfrm>
            <a:off x="86868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36" name="Text 25"/>
          <p:cNvSpPr txBox="1"/>
          <p:nvPr/>
        </p:nvSpPr>
        <p:spPr>
          <a:xfrm>
            <a:off x="86868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260604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38" name="Text 27"/>
          <p:cNvSpPr txBox="1"/>
          <p:nvPr/>
        </p:nvSpPr>
        <p:spPr>
          <a:xfrm>
            <a:off x="260604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434340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REPORTED</a:t>
            </a:r>
            <a:endParaRPr lang="en-US" sz="950" dirty="0"/>
          </a:p>
        </p:txBody>
      </p:sp>
      <p:sp>
        <p:nvSpPr>
          <p:cNvPr id="40" name="Text 29"/>
          <p:cNvSpPr txBox="1"/>
          <p:nvPr/>
        </p:nvSpPr>
        <p:spPr>
          <a:xfrm>
            <a:off x="434340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608076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42" name="Text 31"/>
          <p:cNvSpPr txBox="1"/>
          <p:nvPr/>
        </p:nvSpPr>
        <p:spPr>
          <a:xfrm>
            <a:off x="608076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781812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</a:t>
            </a:r>
            <a:endParaRPr lang="en-US" sz="950" dirty="0"/>
          </a:p>
        </p:txBody>
      </p:sp>
      <p:sp>
        <p:nvSpPr>
          <p:cNvPr id="44" name="Text 33"/>
          <p:cNvSpPr txBox="1"/>
          <p:nvPr/>
        </p:nvSpPr>
        <p:spPr>
          <a:xfrm>
            <a:off x="781812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955548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STATUS</a:t>
            </a:r>
            <a:endParaRPr lang="en-US" sz="950" dirty="0"/>
          </a:p>
        </p:txBody>
      </p:sp>
      <p:sp>
        <p:nvSpPr>
          <p:cNvPr id="46" name="Text 35"/>
          <p:cNvSpPr txBox="1"/>
          <p:nvPr/>
        </p:nvSpPr>
        <p:spPr>
          <a:xfrm>
            <a:off x="9555480" y="5486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report is a signal — not an established fact — until the community confirms it.</a:t>
            </a:r>
            <a:endParaRPr lang="en-US" sz="1100" dirty="0"/>
          </a:p>
        </p:txBody>
      </p:sp>
      <p:sp>
        <p:nvSpPr>
          <p:cNvPr id="48" name="Text 3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HOW IT WORKS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Two perspectives.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1920240" cy="3566160"/>
          </a:xfrm>
          <a:prstGeom prst="roundRect">
            <a:avLst>
              <a:gd name="adj" fmla="val 9524"/>
            </a:avLst>
          </a:prstGeom>
          <a:solidFill>
            <a:srgbClr val="123024"/>
          </a:solidFill>
          <a:ln w="38100">
            <a:solidFill>
              <a:srgbClr val="0B21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761488"/>
            <a:ext cx="1700784" cy="3163824"/>
          </a:xfrm>
          <a:prstGeom prst="roundRect">
            <a:avLst>
              <a:gd name="adj" fmla="val 6452"/>
            </a:avLst>
          </a:prstGeom>
          <a:solidFill>
            <a:srgbClr val="123024"/>
          </a:solidFill>
          <a:ln/>
        </p:spPr>
      </p:sp>
      <p:sp>
        <p:nvSpPr>
          <p:cNvPr id="8" name="Shape 6"/>
          <p:cNvSpPr/>
          <p:nvPr/>
        </p:nvSpPr>
        <p:spPr>
          <a:xfrm>
            <a:off x="1287475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" name="Shape 7"/>
          <p:cNvSpPr/>
          <p:nvPr/>
        </p:nvSpPr>
        <p:spPr>
          <a:xfrm>
            <a:off x="1369068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" name="Shape 8"/>
          <p:cNvSpPr/>
          <p:nvPr/>
        </p:nvSpPr>
        <p:spPr>
          <a:xfrm>
            <a:off x="1450660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" name="Shape 9"/>
          <p:cNvSpPr/>
          <p:nvPr/>
        </p:nvSpPr>
        <p:spPr>
          <a:xfrm>
            <a:off x="1532253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3846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38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777031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5" name="Shape 13"/>
          <p:cNvSpPr/>
          <p:nvPr/>
        </p:nvSpPr>
        <p:spPr>
          <a:xfrm>
            <a:off x="1858624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0216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7" name="Shape 15"/>
          <p:cNvSpPr/>
          <p:nvPr/>
        </p:nvSpPr>
        <p:spPr>
          <a:xfrm>
            <a:off x="2021809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03401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84994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0" name="Shape 18"/>
          <p:cNvSpPr/>
          <p:nvPr/>
        </p:nvSpPr>
        <p:spPr>
          <a:xfrm>
            <a:off x="2266587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8179" y="307055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7475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9068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50660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2253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13846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38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777031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29" name="Shape 27"/>
          <p:cNvSpPr/>
          <p:nvPr/>
        </p:nvSpPr>
        <p:spPr>
          <a:xfrm>
            <a:off x="1858624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0216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1" name="Shape 29"/>
          <p:cNvSpPr/>
          <p:nvPr/>
        </p:nvSpPr>
        <p:spPr>
          <a:xfrm>
            <a:off x="2021809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03401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84994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66587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5" name="Shape 33"/>
          <p:cNvSpPr/>
          <p:nvPr/>
        </p:nvSpPr>
        <p:spPr>
          <a:xfrm>
            <a:off x="2348179" y="335097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87475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7" name="Shape 35"/>
          <p:cNvSpPr/>
          <p:nvPr/>
        </p:nvSpPr>
        <p:spPr>
          <a:xfrm>
            <a:off x="1369068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8" name="Shape 36"/>
          <p:cNvSpPr/>
          <p:nvPr/>
        </p:nvSpPr>
        <p:spPr>
          <a:xfrm>
            <a:off x="1450660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39" name="Shape 37"/>
          <p:cNvSpPr/>
          <p:nvPr/>
        </p:nvSpPr>
        <p:spPr>
          <a:xfrm>
            <a:off x="1532253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3846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1" name="Shape 39"/>
          <p:cNvSpPr/>
          <p:nvPr/>
        </p:nvSpPr>
        <p:spPr>
          <a:xfrm>
            <a:off x="1695438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2" name="Shape 40"/>
          <p:cNvSpPr/>
          <p:nvPr/>
        </p:nvSpPr>
        <p:spPr>
          <a:xfrm>
            <a:off x="1777031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3" name="Shape 41"/>
          <p:cNvSpPr/>
          <p:nvPr/>
        </p:nvSpPr>
        <p:spPr>
          <a:xfrm>
            <a:off x="1858624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4" name="Shape 42"/>
          <p:cNvSpPr/>
          <p:nvPr/>
        </p:nvSpPr>
        <p:spPr>
          <a:xfrm>
            <a:off x="1940216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5" name="Shape 43"/>
          <p:cNvSpPr/>
          <p:nvPr/>
        </p:nvSpPr>
        <p:spPr>
          <a:xfrm>
            <a:off x="2021809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6" name="Shape 44"/>
          <p:cNvSpPr/>
          <p:nvPr/>
        </p:nvSpPr>
        <p:spPr>
          <a:xfrm>
            <a:off x="2103401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7" name="Shape 45"/>
          <p:cNvSpPr/>
          <p:nvPr/>
        </p:nvSpPr>
        <p:spPr>
          <a:xfrm>
            <a:off x="2184994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66587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49" name="Shape 47"/>
          <p:cNvSpPr/>
          <p:nvPr/>
        </p:nvSpPr>
        <p:spPr>
          <a:xfrm>
            <a:off x="2348179" y="363138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0" name="Shape 48"/>
          <p:cNvSpPr/>
          <p:nvPr/>
        </p:nvSpPr>
        <p:spPr>
          <a:xfrm>
            <a:off x="1287475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1" name="Shape 49"/>
          <p:cNvSpPr/>
          <p:nvPr/>
        </p:nvSpPr>
        <p:spPr>
          <a:xfrm>
            <a:off x="1369068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0660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3" name="Shape 51"/>
          <p:cNvSpPr/>
          <p:nvPr/>
        </p:nvSpPr>
        <p:spPr>
          <a:xfrm>
            <a:off x="1532253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4" name="Shape 52"/>
          <p:cNvSpPr/>
          <p:nvPr/>
        </p:nvSpPr>
        <p:spPr>
          <a:xfrm>
            <a:off x="1613846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5" name="Shape 53"/>
          <p:cNvSpPr/>
          <p:nvPr/>
        </p:nvSpPr>
        <p:spPr>
          <a:xfrm>
            <a:off x="1695438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6" name="Shape 54"/>
          <p:cNvSpPr/>
          <p:nvPr/>
        </p:nvSpPr>
        <p:spPr>
          <a:xfrm>
            <a:off x="1777031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7" name="Shape 55"/>
          <p:cNvSpPr/>
          <p:nvPr/>
        </p:nvSpPr>
        <p:spPr>
          <a:xfrm>
            <a:off x="1858624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8" name="Shape 56"/>
          <p:cNvSpPr/>
          <p:nvPr/>
        </p:nvSpPr>
        <p:spPr>
          <a:xfrm>
            <a:off x="1940216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59" name="Shape 57"/>
          <p:cNvSpPr/>
          <p:nvPr/>
        </p:nvSpPr>
        <p:spPr>
          <a:xfrm>
            <a:off x="2021809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0" name="Shape 58"/>
          <p:cNvSpPr/>
          <p:nvPr/>
        </p:nvSpPr>
        <p:spPr>
          <a:xfrm>
            <a:off x="2103401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1" name="Shape 59"/>
          <p:cNvSpPr/>
          <p:nvPr/>
        </p:nvSpPr>
        <p:spPr>
          <a:xfrm>
            <a:off x="2184994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2" name="Shape 60"/>
          <p:cNvSpPr/>
          <p:nvPr/>
        </p:nvSpPr>
        <p:spPr>
          <a:xfrm>
            <a:off x="2266587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3" name="Shape 61"/>
          <p:cNvSpPr/>
          <p:nvPr/>
        </p:nvSpPr>
        <p:spPr>
          <a:xfrm>
            <a:off x="2348179" y="391180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4" name="Shape 62"/>
          <p:cNvSpPr/>
          <p:nvPr/>
        </p:nvSpPr>
        <p:spPr>
          <a:xfrm>
            <a:off x="1287475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5" name="Shape 63"/>
          <p:cNvSpPr/>
          <p:nvPr/>
        </p:nvSpPr>
        <p:spPr>
          <a:xfrm>
            <a:off x="1369068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6" name="Shape 64"/>
          <p:cNvSpPr/>
          <p:nvPr/>
        </p:nvSpPr>
        <p:spPr>
          <a:xfrm>
            <a:off x="1450660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7" name="Shape 65"/>
          <p:cNvSpPr/>
          <p:nvPr/>
        </p:nvSpPr>
        <p:spPr>
          <a:xfrm>
            <a:off x="1532253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8" name="Shape 66"/>
          <p:cNvSpPr/>
          <p:nvPr/>
        </p:nvSpPr>
        <p:spPr>
          <a:xfrm>
            <a:off x="1613846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69" name="Shape 67"/>
          <p:cNvSpPr/>
          <p:nvPr/>
        </p:nvSpPr>
        <p:spPr>
          <a:xfrm>
            <a:off x="1695438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0" name="Shape 68"/>
          <p:cNvSpPr/>
          <p:nvPr/>
        </p:nvSpPr>
        <p:spPr>
          <a:xfrm>
            <a:off x="1777031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1" name="Shape 69"/>
          <p:cNvSpPr/>
          <p:nvPr/>
        </p:nvSpPr>
        <p:spPr>
          <a:xfrm>
            <a:off x="1858624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2" name="Shape 70"/>
          <p:cNvSpPr/>
          <p:nvPr/>
        </p:nvSpPr>
        <p:spPr>
          <a:xfrm>
            <a:off x="1940216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3" name="Shape 71"/>
          <p:cNvSpPr/>
          <p:nvPr/>
        </p:nvSpPr>
        <p:spPr>
          <a:xfrm>
            <a:off x="2021809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4" name="Shape 72"/>
          <p:cNvSpPr/>
          <p:nvPr/>
        </p:nvSpPr>
        <p:spPr>
          <a:xfrm>
            <a:off x="2103401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5" name="Shape 73"/>
          <p:cNvSpPr/>
          <p:nvPr/>
        </p:nvSpPr>
        <p:spPr>
          <a:xfrm>
            <a:off x="2184994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6" name="Shape 74"/>
          <p:cNvSpPr/>
          <p:nvPr/>
        </p:nvSpPr>
        <p:spPr>
          <a:xfrm>
            <a:off x="2266587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7" name="Shape 75"/>
          <p:cNvSpPr/>
          <p:nvPr/>
        </p:nvSpPr>
        <p:spPr>
          <a:xfrm>
            <a:off x="2348179" y="419221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8" name="Shape 76"/>
          <p:cNvSpPr/>
          <p:nvPr/>
        </p:nvSpPr>
        <p:spPr>
          <a:xfrm>
            <a:off x="1287475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79" name="Shape 77"/>
          <p:cNvSpPr/>
          <p:nvPr/>
        </p:nvSpPr>
        <p:spPr>
          <a:xfrm>
            <a:off x="1369068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0" name="Shape 78"/>
          <p:cNvSpPr/>
          <p:nvPr/>
        </p:nvSpPr>
        <p:spPr>
          <a:xfrm>
            <a:off x="1450660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1" name="Shape 79"/>
          <p:cNvSpPr/>
          <p:nvPr/>
        </p:nvSpPr>
        <p:spPr>
          <a:xfrm>
            <a:off x="1532253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2" name="Shape 80"/>
          <p:cNvSpPr/>
          <p:nvPr/>
        </p:nvSpPr>
        <p:spPr>
          <a:xfrm>
            <a:off x="1613846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3" name="Shape 81"/>
          <p:cNvSpPr/>
          <p:nvPr/>
        </p:nvSpPr>
        <p:spPr>
          <a:xfrm>
            <a:off x="1695438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4" name="Shape 82"/>
          <p:cNvSpPr/>
          <p:nvPr/>
        </p:nvSpPr>
        <p:spPr>
          <a:xfrm>
            <a:off x="1777031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5" name="Shape 83"/>
          <p:cNvSpPr/>
          <p:nvPr/>
        </p:nvSpPr>
        <p:spPr>
          <a:xfrm>
            <a:off x="1858624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6" name="Shape 84"/>
          <p:cNvSpPr/>
          <p:nvPr/>
        </p:nvSpPr>
        <p:spPr>
          <a:xfrm>
            <a:off x="1940216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7" name="Shape 85"/>
          <p:cNvSpPr/>
          <p:nvPr/>
        </p:nvSpPr>
        <p:spPr>
          <a:xfrm>
            <a:off x="2021809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8" name="Shape 86"/>
          <p:cNvSpPr/>
          <p:nvPr/>
        </p:nvSpPr>
        <p:spPr>
          <a:xfrm>
            <a:off x="2103401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89" name="Shape 87"/>
          <p:cNvSpPr/>
          <p:nvPr/>
        </p:nvSpPr>
        <p:spPr>
          <a:xfrm>
            <a:off x="2184994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0" name="Shape 88"/>
          <p:cNvSpPr/>
          <p:nvPr/>
        </p:nvSpPr>
        <p:spPr>
          <a:xfrm>
            <a:off x="2266587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1" name="Shape 89"/>
          <p:cNvSpPr/>
          <p:nvPr/>
        </p:nvSpPr>
        <p:spPr>
          <a:xfrm>
            <a:off x="2348179" y="4472635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2" name="Shape 90"/>
          <p:cNvSpPr/>
          <p:nvPr/>
        </p:nvSpPr>
        <p:spPr>
          <a:xfrm>
            <a:off x="1287475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3" name="Shape 91"/>
          <p:cNvSpPr/>
          <p:nvPr/>
        </p:nvSpPr>
        <p:spPr>
          <a:xfrm>
            <a:off x="1369068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4" name="Shape 92"/>
          <p:cNvSpPr/>
          <p:nvPr/>
        </p:nvSpPr>
        <p:spPr>
          <a:xfrm>
            <a:off x="1450660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5" name="Shape 93"/>
          <p:cNvSpPr/>
          <p:nvPr/>
        </p:nvSpPr>
        <p:spPr>
          <a:xfrm>
            <a:off x="1532253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6" name="Shape 94"/>
          <p:cNvSpPr/>
          <p:nvPr/>
        </p:nvSpPr>
        <p:spPr>
          <a:xfrm>
            <a:off x="1613846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7" name="Shape 95"/>
          <p:cNvSpPr/>
          <p:nvPr/>
        </p:nvSpPr>
        <p:spPr>
          <a:xfrm>
            <a:off x="1695438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8" name="Shape 96"/>
          <p:cNvSpPr/>
          <p:nvPr/>
        </p:nvSpPr>
        <p:spPr>
          <a:xfrm>
            <a:off x="1777031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99" name="Shape 97"/>
          <p:cNvSpPr/>
          <p:nvPr/>
        </p:nvSpPr>
        <p:spPr>
          <a:xfrm>
            <a:off x="1858624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1940216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2021809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103401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184994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266587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348179" y="4753051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87475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369068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450660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532253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613846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695438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777031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858624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40216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021809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103401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184994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266587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348179" y="5033467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287475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369068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450660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532253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613846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695438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777031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858624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940216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021809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103401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184994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266587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2348179" y="5313883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287475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369068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450660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532253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613846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695438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777031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858624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940216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021809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103401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184994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266587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348179" y="5594299"/>
            <a:ext cx="21946" cy="21946"/>
          </a:xfrm>
          <a:prstGeom prst="ellipse">
            <a:avLst/>
          </a:prstGeom>
          <a:solidFill>
            <a:srgbClr val="1F4433"/>
          </a:solidFill>
          <a:ln/>
        </p:spPr>
      </p:sp>
      <p:sp>
        <p:nvSpPr>
          <p:cNvPr id="148" name="Shape 146"/>
          <p:cNvSpPr/>
          <p:nvPr/>
        </p:nvSpPr>
        <p:spPr>
          <a:xfrm flipV="1">
            <a:off x="1352580" y="3394253"/>
            <a:ext cx="561259" cy="253106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913839" y="3394253"/>
            <a:ext cx="510235" cy="379659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2202972" y="3773912"/>
            <a:ext cx="221102" cy="727680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233526" y="4659782"/>
            <a:ext cx="340157" cy="253106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573682" y="4912888"/>
            <a:ext cx="425196" cy="316382"/>
          </a:xfrm>
          <a:prstGeom prst="line">
            <a:avLst/>
          </a:prstGeom>
          <a:noFill/>
          <a:ln w="12700">
            <a:solidFill>
              <a:srgbClr val="1F44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206276" y="3501055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1293144" y="3587923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767535" y="3247949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854403" y="3334817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2056668" y="4355287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2143536" y="4442155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427378" y="4766584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1514246" y="4853452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277770" y="3627608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2364638" y="3714476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87222" y="4513478"/>
            <a:ext cx="292608" cy="292608"/>
          </a:xfrm>
          <a:prstGeom prst="ellipse">
            <a:avLst/>
          </a:prstGeom>
          <a:solidFill>
            <a:srgbClr val="FF9F1C">
              <a:alpha val="22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1174090" y="4600346"/>
            <a:ext cx="118872" cy="11887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852574" y="5082967"/>
            <a:ext cx="292608" cy="292608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1939442" y="5169835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3063240" y="2606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lighting</a:t>
            </a:r>
            <a:endParaRPr lang="en-US" sz="1500" dirty="0"/>
          </a:p>
        </p:txBody>
      </p:sp>
      <p:sp>
        <p:nvSpPr>
          <p:cNvPr id="168" name="Text 166"/>
          <p:cNvSpPr txBox="1"/>
          <p:nvPr/>
        </p:nvSpPr>
        <p:spPr>
          <a:xfrm>
            <a:off x="3063240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community confirmations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today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3063240" y="3703320"/>
            <a:ext cx="365760" cy="36576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70" name="Image 0" descr="/home/claude/vantage/icons/map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3785616"/>
            <a:ext cx="201168" cy="201168"/>
          </a:xfrm>
          <a:prstGeom prst="rect">
            <a:avLst/>
          </a:prstGeom>
        </p:spPr>
      </p:pic>
      <p:sp>
        <p:nvSpPr>
          <p:cNvPr id="171" name="Text 168"/>
          <p:cNvSpPr txBox="1"/>
          <p:nvPr/>
        </p:nvSpPr>
        <p:spPr>
          <a:xfrm>
            <a:off x="356616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nearby reports</a:t>
            </a:r>
            <a:endParaRPr lang="en-US" sz="1150" dirty="0"/>
          </a:p>
        </p:txBody>
      </p:sp>
      <p:sp>
        <p:nvSpPr>
          <p:cNvPr id="172" name="Shape 169"/>
          <p:cNvSpPr/>
          <p:nvPr/>
        </p:nvSpPr>
        <p:spPr>
          <a:xfrm>
            <a:off x="3063240" y="4270248"/>
            <a:ext cx="365760" cy="36576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73" name="Image 1" descr="/home/claude/vantage/icons/layers_22C5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4352544"/>
            <a:ext cx="201168" cy="201168"/>
          </a:xfrm>
          <a:prstGeom prst="rect">
            <a:avLst/>
          </a:prstGeom>
        </p:spPr>
      </p:pic>
      <p:sp>
        <p:nvSpPr>
          <p:cNvPr id="174" name="Text 170"/>
          <p:cNvSpPr txBox="1"/>
          <p:nvPr/>
        </p:nvSpPr>
        <p:spPr>
          <a:xfrm>
            <a:off x="35661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categories at a glance</a:t>
            </a:r>
            <a:endParaRPr lang="en-US" sz="1150" dirty="0"/>
          </a:p>
        </p:txBody>
      </p:sp>
      <p:sp>
        <p:nvSpPr>
          <p:cNvPr id="175" name="Shape 171"/>
          <p:cNvSpPr/>
          <p:nvPr/>
        </p:nvSpPr>
        <p:spPr>
          <a:xfrm>
            <a:off x="3063240" y="4837176"/>
            <a:ext cx="365760" cy="36576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76" name="Image 2" descr="/home/claude/vantage/icons/confirm_22C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536" y="4919472"/>
            <a:ext cx="201168" cy="201168"/>
          </a:xfrm>
          <a:prstGeom prst="rect">
            <a:avLst/>
          </a:prstGeom>
        </p:spPr>
      </p:pic>
      <p:sp>
        <p:nvSpPr>
          <p:cNvPr id="177" name="Text 172"/>
          <p:cNvSpPr txBox="1"/>
          <p:nvPr/>
        </p:nvSpPr>
        <p:spPr>
          <a:xfrm>
            <a:off x="3566160" y="4864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count per report</a:t>
            </a:r>
            <a:endParaRPr lang="en-US" sz="1150" dirty="0"/>
          </a:p>
        </p:txBody>
      </p:sp>
      <p:sp>
        <p:nvSpPr>
          <p:cNvPr id="178" name="Shape 173"/>
          <p:cNvSpPr/>
          <p:nvPr/>
        </p:nvSpPr>
        <p:spPr>
          <a:xfrm>
            <a:off x="3063240" y="5404104"/>
            <a:ext cx="365760" cy="36576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79" name="Image 3" descr="/home/claude/vantage/icons/recency_22C5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6" y="5486400"/>
            <a:ext cx="201168" cy="201168"/>
          </a:xfrm>
          <a:prstGeom prst="rect">
            <a:avLst/>
          </a:prstGeom>
        </p:spPr>
      </p:pic>
      <p:sp>
        <p:nvSpPr>
          <p:cNvPr id="180" name="Text 174"/>
          <p:cNvSpPr txBox="1"/>
          <p:nvPr/>
        </p:nvSpPr>
        <p:spPr>
          <a:xfrm>
            <a:off x="3566160" y="5431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 &amp; verification status</a:t>
            </a:r>
            <a:endParaRPr lang="en-US" sz="1150" dirty="0"/>
          </a:p>
        </p:txBody>
      </p:sp>
      <p:sp>
        <p:nvSpPr>
          <p:cNvPr id="181" name="Shape 175"/>
          <p:cNvSpPr/>
          <p:nvPr/>
        </p:nvSpPr>
        <p:spPr>
          <a:xfrm>
            <a:off x="6080760" y="1874520"/>
            <a:ext cx="5559552" cy="4526280"/>
          </a:xfrm>
          <a:prstGeom prst="roundRect">
            <a:avLst>
              <a:gd name="adj" fmla="val 2020"/>
            </a:avLst>
          </a:prstGeom>
          <a:solidFill>
            <a:srgbClr val="0B2118"/>
          </a:solidFill>
          <a:ln/>
        </p:spPr>
      </p:sp>
      <p:sp>
        <p:nvSpPr>
          <p:cNvPr id="182" name="Text 176"/>
          <p:cNvSpPr txBox="1"/>
          <p:nvPr/>
        </p:nvSpPr>
        <p:spPr>
          <a:xfrm>
            <a:off x="64008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AUTHORITIES</a:t>
            </a:r>
            <a:endParaRPr lang="en-US" sz="1300" dirty="0"/>
          </a:p>
        </p:txBody>
      </p:sp>
      <p:sp>
        <p:nvSpPr>
          <p:cNvPr id="183" name="Text 177"/>
          <p:cNvSpPr txBox="1"/>
          <p:nvPr/>
        </p:nvSpPr>
        <p:spPr>
          <a:xfrm>
            <a:off x="64008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Central Bus Stop</a:t>
            </a:r>
            <a:endParaRPr lang="en-US" sz="1300" dirty="0"/>
          </a:p>
        </p:txBody>
      </p:sp>
      <p:graphicFrame>
        <p:nvGraphicFramePr>
          <p:cNvPr id="184" name="Chart 0"/>
          <p:cNvGraphicFramePr/>
          <p:nvPr/>
        </p:nvGraphicFramePr>
        <p:xfrm>
          <a:off x="6400800" y="2880360"/>
          <a:ext cx="4919472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5" name="Shape 178"/>
          <p:cNvSpPr/>
          <p:nvPr/>
        </p:nvSpPr>
        <p:spPr>
          <a:xfrm>
            <a:off x="6400800" y="5074920"/>
            <a:ext cx="4919472" cy="1051560"/>
          </a:xfrm>
          <a:prstGeom prst="roundRect">
            <a:avLst>
              <a:gd name="adj" fmla="val 6957"/>
            </a:avLst>
          </a:prstGeom>
          <a:solidFill>
            <a:srgbClr val="123024"/>
          </a:solidFill>
          <a:ln/>
        </p:spPr>
      </p:sp>
      <p:sp>
        <p:nvSpPr>
          <p:cNvPr id="186" name="Shape 179"/>
          <p:cNvSpPr/>
          <p:nvPr/>
        </p:nvSpPr>
        <p:spPr>
          <a:xfrm>
            <a:off x="6583680" y="5221224"/>
            <a:ext cx="502920" cy="50292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87" name="Image 4" descr="/home/claude/vantage/icons/identify_FF9F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6837" y="5334381"/>
            <a:ext cx="276606" cy="276606"/>
          </a:xfrm>
          <a:prstGeom prst="rect">
            <a:avLst/>
          </a:prstGeom>
        </p:spPr>
      </p:pic>
      <p:sp>
        <p:nvSpPr>
          <p:cNvPr id="188" name="Text 180"/>
          <p:cNvSpPr txBox="1"/>
          <p:nvPr/>
        </p:nvSpPr>
        <p:spPr>
          <a:xfrm>
            <a:off x="7269480" y="5184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 IDENTIFIED</a:t>
            </a:r>
            <a:endParaRPr lang="en-US" sz="1050" dirty="0"/>
          </a:p>
        </p:txBody>
      </p:sp>
      <p:sp>
        <p:nvSpPr>
          <p:cNvPr id="189" name="Text 181"/>
          <p:cNvSpPr txBox="1"/>
          <p:nvPr/>
        </p:nvSpPr>
        <p:spPr>
          <a:xfrm>
            <a:off x="7269480" y="545896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lighting</a:t>
            </a:r>
            <a:endParaRPr lang="en-US" sz="1600" dirty="0"/>
          </a:p>
        </p:txBody>
      </p:sp>
      <p:sp>
        <p:nvSpPr>
          <p:cNvPr id="190" name="Text 18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191" name="Text 183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PRODUCT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safety map is only useful if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can trust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12064" cy="512064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5" name="Image 0" descr="/home/claude/vantage/icons/evidenc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1401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267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Evidence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511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photographs or supporting information.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80944"/>
            <a:ext cx="512064" cy="512064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9" name="Image 1" descr="/home/claude/vantage/icons/independent_FF9F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1089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9626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Independent reports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reporting the same issue increases confidence.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75888"/>
            <a:ext cx="512064" cy="512064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3" name="Image 2" descr="/home/claude/vantage/icons/confirm_22C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8039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657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Community confirmation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9410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confirm or flag a report.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70832"/>
            <a:ext cx="512064" cy="512064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7" name="Image 3" descr="/home/claude/vantage/icons/recency_FF9F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49884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3525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Recency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4636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reports are surfaced appropriately.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065776"/>
            <a:ext cx="512064" cy="512064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21" name="Image 4" descr="/home/claude/vantage/icons/moderation_22C5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519379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5047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Moderation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53309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Suspicious, misleading or inappropriate reports can be flagged and reviewed.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903720" y="2331720"/>
            <a:ext cx="4754880" cy="3977640"/>
          </a:xfrm>
          <a:prstGeom prst="roundRect">
            <a:avLst>
              <a:gd name="adj" fmla="val 2299"/>
            </a:avLst>
          </a:prstGeom>
          <a:solidFill>
            <a:srgbClr val="0B2118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26948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LIFECYCLE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269480" y="32004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23024"/>
          </a:solidFill>
          <a:ln/>
        </p:spPr>
      </p:sp>
      <p:sp>
        <p:nvSpPr>
          <p:cNvPr id="27" name="Shape 20"/>
          <p:cNvSpPr/>
          <p:nvPr/>
        </p:nvSpPr>
        <p:spPr>
          <a:xfrm>
            <a:off x="7470648" y="3465576"/>
            <a:ext cx="256032" cy="256032"/>
          </a:xfrm>
          <a:prstGeom prst="ellipse">
            <a:avLst/>
          </a:prstGeom>
          <a:solidFill>
            <a:srgbClr val="5E7268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7863840" y="3319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863840" y="3602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report · unverified</a:t>
            </a:r>
            <a:endParaRPr lang="en-US" sz="1050" dirty="0"/>
          </a:p>
        </p:txBody>
      </p:sp>
      <p:pic>
        <p:nvPicPr>
          <p:cNvPr id="30" name="Image 5" descr="/home/claude/vantage/icons/arrowDown_22C55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3995928"/>
            <a:ext cx="201168" cy="20116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269480" y="41605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23024"/>
          </a:solidFill>
          <a:ln/>
        </p:spPr>
      </p:sp>
      <p:sp>
        <p:nvSpPr>
          <p:cNvPr id="32" name="Shape 24"/>
          <p:cNvSpPr/>
          <p:nvPr/>
        </p:nvSpPr>
        <p:spPr>
          <a:xfrm>
            <a:off x="7470648" y="4425696"/>
            <a:ext cx="256032" cy="25603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7863840" y="4279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7863840" y="4562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reports</a:t>
            </a:r>
            <a:endParaRPr lang="en-US" sz="1050" dirty="0"/>
          </a:p>
        </p:txBody>
      </p:sp>
      <p:pic>
        <p:nvPicPr>
          <p:cNvPr id="35" name="Image 6" descr="/home/claude/vantage/icons/arrowDown_22C55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4956048"/>
            <a:ext cx="201168" cy="20116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269480" y="5120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23024"/>
          </a:solidFill>
          <a:ln/>
        </p:spPr>
      </p:sp>
      <p:sp>
        <p:nvSpPr>
          <p:cNvPr id="37" name="Shape 28"/>
          <p:cNvSpPr/>
          <p:nvPr/>
        </p:nvSpPr>
        <p:spPr>
          <a:xfrm>
            <a:off x="7470648" y="5385816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7863840" y="5239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signal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7863840" y="55229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· visible to authorities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5989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presents community-reported information with context and verification status — not absolute claims about a location.</a:t>
            </a:r>
            <a:endParaRPr lang="en-US" sz="115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TRUST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predicting danger.</a:t>
            </a:r>
            <a:endParaRPr lang="en-US" sz="2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making existing problems visible.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230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651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3255264"/>
            <a:ext cx="91440" cy="91440"/>
          </a:xfrm>
          <a:prstGeom prst="ellipse">
            <a:avLst/>
          </a:prstGeom>
          <a:solidFill>
            <a:srgbClr val="7C9A8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1272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complaints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822192"/>
            <a:ext cx="91440" cy="91440"/>
          </a:xfrm>
          <a:prstGeom prst="ellipse">
            <a:avLst/>
          </a:prstGeom>
          <a:solidFill>
            <a:srgbClr val="7C9A8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6941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can remain fragmented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91440" cy="91440"/>
          </a:xfrm>
          <a:prstGeom prst="ellipse">
            <a:avLst/>
          </a:prstGeom>
          <a:solidFill>
            <a:srgbClr val="7C9A8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2611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community visibility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56048"/>
            <a:ext cx="91440" cy="91440"/>
          </a:xfrm>
          <a:prstGeom prst="ellipse">
            <a:avLst/>
          </a:prstGeom>
          <a:solidFill>
            <a:srgbClr val="7C9A8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828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see recurring local patterns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91072" y="233172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56832" y="2651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56832" y="3255264"/>
            <a:ext cx="91440" cy="91440"/>
          </a:xfrm>
          <a:prstGeom prst="ellipse">
            <a:avLst/>
          </a:prstGeom>
          <a:solidFill>
            <a:srgbClr val="0B211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85432" y="31272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reporting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56832" y="3730752"/>
            <a:ext cx="91440" cy="91440"/>
          </a:xfrm>
          <a:prstGeom prst="ellipse">
            <a:avLst/>
          </a:prstGeom>
          <a:solidFill>
            <a:srgbClr val="0B21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85432" y="36027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confirmation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56832" y="4206240"/>
            <a:ext cx="91440" cy="91440"/>
          </a:xfrm>
          <a:prstGeom prst="ellipse">
            <a:avLst/>
          </a:prstGeom>
          <a:solidFill>
            <a:srgbClr val="0B211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85432" y="40782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visibility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56832" y="4681728"/>
            <a:ext cx="91440" cy="91440"/>
          </a:xfrm>
          <a:prstGeom prst="ellipse">
            <a:avLst/>
          </a:prstGeom>
          <a:solidFill>
            <a:srgbClr val="0B211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85432" y="4553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 aggregation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56832" y="5157216"/>
            <a:ext cx="91440" cy="91440"/>
          </a:xfrm>
          <a:prstGeom prst="ellipse">
            <a:avLst/>
          </a:prstGeom>
          <a:solidFill>
            <a:srgbClr val="0B211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85432" y="50292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information for relevant authorities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 connects citizen observations, community verification and civic action in one loop.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DIFFERENT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local. Scale through the same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9047" y="2423160"/>
            <a:ext cx="640080" cy="64008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6" name="Image 0" descr="/home/claude/vantage/icons/target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67" y="25831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00400"/>
            <a:ext cx="2215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502152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understand recurring problems around them.</a:t>
            </a:r>
            <a:endParaRPr lang="en-US" sz="1050" dirty="0"/>
          </a:p>
        </p:txBody>
      </p:sp>
      <p:pic>
        <p:nvPicPr>
          <p:cNvPr id="9" name="Image 1" descr="/home/claude/vantage/icons/arrow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22" y="312267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5566" y="214884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55973" y="2423160"/>
            <a:ext cx="640080" cy="64008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2" name="Image 2" descr="/home/claude/vantage/icons/building_FF9F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993" y="25831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68446" y="3200400"/>
            <a:ext cx="2215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NEIGHBOURHOOD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86734" y="3502152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visibility across residents nearby.</a:t>
            </a:r>
            <a:endParaRPr lang="en-US" sz="1050" dirty="0"/>
          </a:p>
        </p:txBody>
      </p:sp>
      <p:pic>
        <p:nvPicPr>
          <p:cNvPr id="15" name="Image 3" descr="/home/claude/vantage/icons/arrow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312267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22492" y="214884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92899" y="2423160"/>
            <a:ext cx="640080" cy="64008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18" name="Image 4" descr="/home/claude/vantage/icons/map_22C5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919" y="258318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5372" y="3200400"/>
            <a:ext cx="2215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0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6423660" y="3502152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can reveal recurring infrastructure and safety issues.</a:t>
            </a:r>
            <a:endParaRPr lang="en-US" sz="1050" dirty="0"/>
          </a:p>
        </p:txBody>
      </p:sp>
      <p:pic>
        <p:nvPicPr>
          <p:cNvPr id="21" name="Image 5" descr="/home/claude/vantage/icons/arrowRight_0B2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674" y="312267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59418" y="214884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0B2118"/>
          </a:solidFill>
          <a:ln w="12700">
            <a:solidFill>
              <a:srgbClr val="DCE8DE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029825" y="2423160"/>
            <a:ext cx="640080" cy="640080"/>
          </a:xfrm>
          <a:prstGeom prst="ellipse">
            <a:avLst/>
          </a:prstGeom>
          <a:solidFill>
            <a:srgbClr val="123024"/>
          </a:solidFill>
          <a:ln/>
        </p:spPr>
      </p:sp>
      <p:pic>
        <p:nvPicPr>
          <p:cNvPr id="24" name="Image 6" descr="/home/claude/vantage/icons/globe_FF9F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9845" y="258318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42298" y="3200400"/>
            <a:ext cx="2215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/ STATE-WIDE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9260586" y="3502152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structured reports could help departments prioritize response.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FUTURE INTEGRATIONS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1198626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29" name="Image 7" descr="/home/claude/vantage/icons/truck_22C55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5786" y="516636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94360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services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3047238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32" name="Image 8" descr="/home/claude/vantage/icons/tool_FF9F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4398" y="516636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2442972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infrastructure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4895850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35" name="Image 9" descr="/home/claude/vantage/icons/lighting_22C55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3010" y="5166360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291584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maintenance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6744462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38" name="Image 10" descr="/home/claude/vantage/icons/animals_FF9F1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1622" y="5166360"/>
            <a:ext cx="274320" cy="27432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140196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control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8593074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41" name="Image 11" descr="/home/claude/vantage/icons/radio_22C55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0234" y="5166360"/>
            <a:ext cx="274320" cy="27432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988808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</a:t>
            </a:r>
            <a:endParaRPr lang="en-US" sz="1050" dirty="0"/>
          </a:p>
        </p:txBody>
      </p:sp>
      <p:sp>
        <p:nvSpPr>
          <p:cNvPr id="43" name="Shape 29"/>
          <p:cNvSpPr/>
          <p:nvPr/>
        </p:nvSpPr>
        <p:spPr>
          <a:xfrm>
            <a:off x="10441686" y="5029200"/>
            <a:ext cx="548640" cy="548640"/>
          </a:xfrm>
          <a:prstGeom prst="ellipse">
            <a:avLst/>
          </a:prstGeom>
          <a:solidFill>
            <a:srgbClr val="0B2118"/>
          </a:solidFill>
          <a:ln/>
        </p:spPr>
      </p:sp>
      <p:pic>
        <p:nvPicPr>
          <p:cNvPr id="44" name="Image 12" descr="/home/claude/vantage/icons/layers_FF9F1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8846" y="5166360"/>
            <a:ext cx="274320" cy="27432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837420" y="5669280"/>
            <a:ext cx="1757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civic departments</a:t>
            </a:r>
            <a:endParaRPr lang="en-US" sz="1050" dirty="0"/>
          </a:p>
        </p:txBody>
      </p:sp>
      <p:sp>
        <p:nvSpPr>
          <p:cNvPr id="46" name="Text 3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IMPACT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INVISIBLE VISIBLE.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43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REPORT.  VERIFY.  MAP.  ACT.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945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D9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don’t need to predict every danger. We need to make the problems people already experience visible, verifiable and actionable.”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394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62518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08816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24249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93384" y="2351471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7951" y="2566904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24249" y="2566904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62518" y="2782336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8" name="Shape 16"/>
          <p:cNvSpPr/>
          <p:nvPr/>
        </p:nvSpPr>
        <p:spPr>
          <a:xfrm>
            <a:off x="8908816" y="2782336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2518" y="2997769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93384" y="2997769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18120" y="3456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37038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83336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8769" y="2136038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67904" y="2351471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52471" y="2566904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98769" y="2566904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37038" y="2782336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3336" y="2782336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37038" y="2997769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67904" y="2997769"/>
            <a:ext cx="193889" cy="193889"/>
          </a:xfrm>
          <a:prstGeom prst="rect">
            <a:avLst/>
          </a:prstGeom>
          <a:solidFill>
            <a:srgbClr val="0B211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05760" y="3206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A6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OUR SURVEY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BFF847E-00A3-F8D2-271D-2752B525F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193" y="1926824"/>
            <a:ext cx="1611961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758</Words>
  <Application>Microsoft Office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Hafna Faizal</cp:lastModifiedBy>
  <cp:revision>4</cp:revision>
  <dcterms:created xsi:type="dcterms:W3CDTF">2026-09-24T09:15:32Z</dcterms:created>
  <dcterms:modified xsi:type="dcterms:W3CDTF">2026-09-28T00:46:08Z</dcterms:modified>
</cp:coreProperties>
</file>